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5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0">
                <a:solidFill>
                  <a:srgbClr val="FFFFFF"/>
                </a:solidFill>
              </a:defRPr>
            </a:pPr>
            <a:r>
              <a:t>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286000"/>
            <a:ext cx="121916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FFFFFF"/>
                </a:solidFill>
              </a:defRPr>
            </a:pPr>
            <a:r>
              <a:t>Clarity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4747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6B8090"/>
                </a:solidFill>
              </a:defRPr>
            </a:pPr>
            <a:r>
              <a:t>AI-powered smart todo list for people who think</a:t>
            </a:r>
            <a:br/>
            <a:r>
              <a:t>faster than they organize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754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AB4F8"/>
                </a:solidFill>
              </a:defRPr>
            </a:pPr>
            <a:r>
              <a:t>Flutter  •  FastAPI  •  Claude Haiku 4.5  •  Kiro 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59436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B8090"/>
                </a:solidFill>
              </a:defRPr>
            </a:pPr>
            <a:r>
              <a:t>AWS Kiro × CS Careers Hackathon — Virginia Tech — 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5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600" b="1">
                <a:solidFill>
                  <a:srgbClr val="5B7FBF"/>
                </a:solidFill>
              </a:defRPr>
            </a:pPr>
            <a:r>
              <a:t>366M+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</a:defRPr>
            </a:pPr>
            <a:r>
              <a:t>people worldwide have ADHD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B0B8C8"/>
                </a:solidFill>
              </a:defRPr>
            </a:pPr>
            <a:r>
              <a:t>The hardest part isn't doing the work — it's figuring out where to start.</a:t>
            </a:r>
            <a:br/>
            <a:br/>
            <a:r>
              <a:t>Traditional todo apps require you to already be organized. But what if you can't?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669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57373"/>
                </a:solidFill>
              </a:defRPr>
            </a:pPr>
            <a:r>
              <a:t>Executive Dysfunction  •  Task Initiation  •  Planning Overhead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5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</a:defRPr>
            </a:pPr>
            <a:r>
              <a:t>Just dump your thoughts.</a:t>
            </a:r>
            <a:br/>
            <a:r>
              <a:t>AI handles the rest.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6B8090"/>
                </a:solidFill>
              </a:defRPr>
            </a:pPr>
            <a:r>
              <a:t>"I have a midterm Thursday, haven't started studying, need to do laundry, my room's a mess, and I told Sarah I'd review her resume."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846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8AB4F8"/>
                </a:solidFill>
              </a:defRPr>
            </a:pPr>
            <a:r>
              <a:t>↓  One button  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B0B8C8"/>
                </a:solidFill>
              </a:defRPr>
            </a:pPr>
            <a:r>
              <a:t>Structured tasks  •  Prioritized  •  Sub-steps  •  Ready to go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5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</a:defRPr>
            </a:pPr>
            <a:r>
              <a:t>3-Step AI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6B8090"/>
                </a:solidFill>
              </a:defRPr>
            </a:pPr>
            <a:r>
              <a:t>Not a single API call — three dedicated prompts, each designed for its task.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8AB4F8"/>
                </a:solidFill>
              </a:defRPr>
            </a:pPr>
            <a:r>
              <a:t>1. Parse → Extract Tasks</a:t>
            </a:r>
          </a:p>
          <a:p>
            <a:pPr>
              <a:spcAft>
                <a:spcPts val="800"/>
              </a:spcAft>
              <a:defRPr sz="2000" b="0">
                <a:solidFill>
                  <a:srgbClr val="B0B8C8"/>
                </a:solidFill>
              </a:defRPr>
            </a:pPr>
            <a:r>
              <a:t>Finds every task — even implicit ones. "I need to eat healthier" → "Plan meals" + "Go grocery shopping"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E8A870"/>
                </a:solidFill>
              </a:defRPr>
            </a:pPr>
            <a:r>
              <a:t>2. Plan → Prioritize &amp; Order</a:t>
            </a:r>
          </a:p>
          <a:p>
            <a:pPr>
              <a:spcAft>
                <a:spcPts val="800"/>
              </a:spcAft>
              <a:defRPr sz="2000" b="0">
                <a:solidFill>
                  <a:srgbClr val="B0B8C8"/>
                </a:solidFill>
              </a:defRPr>
            </a:pPr>
            <a:r>
              <a:t>Eisenhower Matrix priority. Quick wins first for momentum. Workflow-aware ordering.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12064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66BB6A"/>
                </a:solidFill>
              </a:defRPr>
            </a:pPr>
            <a:r>
              <a:t>3. Summarize → Daily Recap</a:t>
            </a:r>
          </a:p>
          <a:p>
            <a:pPr>
              <a:spcAft>
                <a:spcPts val="800"/>
              </a:spcAft>
              <a:defRPr sz="2000" b="0">
                <a:solidFill>
                  <a:srgbClr val="B0B8C8"/>
                </a:solidFill>
              </a:defRPr>
            </a:pPr>
            <a:r>
              <a:t>Encouraging summary. Leads with wins, never guilt. Suggests tomorrow's focus.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5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</a:defRPr>
            </a:pPr>
            <a:r>
              <a:t>ADHD-Friendly by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8AB4F8"/>
                </a:solidFill>
              </a:defRPr>
            </a:pPr>
            <a:r>
              <a:t>🚫⏱️  No Time Pressure</a:t>
            </a:r>
          </a:p>
          <a:p>
            <a:pPr>
              <a:spcAft>
                <a:spcPts val="800"/>
              </a:spcAft>
              <a:defRPr sz="1800" b="0">
                <a:solidFill>
                  <a:srgbClr val="B0B8C8"/>
                </a:solidFill>
              </a:defRPr>
            </a:pPr>
            <a:r>
              <a:t>Zero timers, zero estimates. They cause anxiety — we removed them entirely.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201168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8AB4F8"/>
                </a:solidFill>
              </a:defRPr>
            </a:pPr>
            <a:r>
              <a:t>🎉  Celebration Moments</a:t>
            </a:r>
          </a:p>
          <a:p>
            <a:pPr>
              <a:spcAft>
                <a:spcPts val="800"/>
              </a:spcAft>
              <a:defRPr sz="1800" b="0">
                <a:solidFill>
                  <a:srgbClr val="B0B8C8"/>
                </a:solidFill>
              </a:defRPr>
            </a:pPr>
            <a:r>
              <a:t>⚡ First done · 🔥 Halfway · 🎉 All complete.</a:t>
            </a:r>
            <a:br/>
            <a:r>
              <a:t>Dopamine hits built into the UX.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8AB4F8"/>
                </a:solidFill>
              </a:defRPr>
            </a:pPr>
            <a:r>
              <a:t>📊  Smart Sorting</a:t>
            </a:r>
          </a:p>
          <a:p>
            <a:pPr>
              <a:spcAft>
                <a:spcPts val="800"/>
              </a:spcAft>
              <a:defRPr sz="1800" b="0">
                <a:solidFill>
                  <a:srgbClr val="B0B8C8"/>
                </a:solidFill>
              </a:defRPr>
            </a:pPr>
            <a:r>
              <a:t>Completed tasks sink. Priority colors guide you. Sub-tasks auto-complete parents.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393192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8AB4F8"/>
                </a:solidFill>
              </a:defRPr>
            </a:pPr>
            <a:r>
              <a:t>🌙  Calm UI</a:t>
            </a:r>
          </a:p>
          <a:p>
            <a:pPr>
              <a:spcAft>
                <a:spcPts val="800"/>
              </a:spcAft>
              <a:defRPr sz="1800" b="0">
                <a:solidFill>
                  <a:srgbClr val="B0B8C8"/>
                </a:solidFill>
              </a:defRPr>
            </a:pPr>
            <a:r>
              <a:t>Warm dark mode. Frosted glass nav. Generous whitespace. Reduces cognitive load.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5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</a:defRPr>
            </a:pPr>
            <a:r>
              <a:t>Calendar + 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6400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B0B8C8"/>
                </a:solidFill>
              </a:defRPr>
            </a:pPr>
            <a:r>
              <a:t>→  Monthly view with urgency progress bars per day</a:t>
            </a:r>
          </a:p>
          <a:p>
            <a:pPr>
              <a:spcAft>
                <a:spcPts val="800"/>
              </a:spcAft>
              <a:defRPr sz="2200" b="0">
                <a:solidFill>
                  <a:srgbClr val="B0B8C8"/>
                </a:solidFill>
              </a:defRPr>
            </a:pPr>
            <a:r>
              <a:t>→  Color depth = urgency (blue light / amber dark mode)</a:t>
            </a:r>
          </a:p>
          <a:p>
            <a:pPr>
              <a:spcAft>
                <a:spcPts val="800"/>
              </a:spcAft>
              <a:defRPr sz="2200" b="0">
                <a:solidFill>
                  <a:srgbClr val="B0B8C8"/>
                </a:solidFill>
              </a:defRPr>
            </a:pPr>
            <a:r>
              <a:t>→  Fill = completion percentage</a:t>
            </a:r>
          </a:p>
          <a:p>
            <a:pPr>
              <a:spcAft>
                <a:spcPts val="800"/>
              </a:spcAft>
              <a:defRPr sz="2200" b="0">
                <a:solidFill>
                  <a:srgbClr val="B0B8C8"/>
                </a:solidFill>
              </a:defRPr>
            </a:pPr>
            <a:r>
              <a:t>→  Google Calendar-style timeline with due times</a:t>
            </a:r>
          </a:p>
          <a:p>
            <a:pPr>
              <a:spcAft>
                <a:spcPts val="800"/>
              </a:spcAft>
              <a:defRPr sz="2200" b="0">
                <a:solidFill>
                  <a:srgbClr val="B0B8C8"/>
                </a:solidFill>
              </a:defRPr>
            </a:pPr>
            <a:r>
              <a:t>→  Tap to preview, double-tap to expand</a:t>
            </a:r>
          </a:p>
          <a:p>
            <a:pPr>
              <a:spcAft>
                <a:spcPts val="800"/>
              </a:spcAft>
              <a:defRPr sz="2200" b="0">
                <a:solidFill>
                  <a:srgbClr val="B0B8C8"/>
                </a:solidFill>
              </a:defRPr>
            </a:pPr>
            <a:r>
              <a:t>→  Quick 'Today' button to jump back</a:t>
            </a:r>
          </a:p>
          <a:p>
            <a:pPr>
              <a:spcAft>
                <a:spcPts val="800"/>
              </a:spcAft>
              <a:defRPr sz="2200" b="0">
                <a:solidFill>
                  <a:srgbClr val="B0B8C8"/>
                </a:solidFill>
              </a:defRPr>
            </a:pPr>
            <a:r>
              <a:t>→  Historical read-only view for past days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274320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0" b="0">
                <a:solidFill>
                  <a:srgbClr val="FFFFFF"/>
                </a:solidFill>
              </a:defRPr>
            </a:pPr>
            <a:r>
              <a:t>📅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5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</a:defRPr>
            </a:pPr>
            <a:r>
              <a:t>Voice Input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6B8090"/>
                </a:solidFill>
              </a:defRPr>
            </a:pPr>
            <a:r>
              <a:t>Because sometimes typing feels like too much.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E8A870"/>
                </a:solidFill>
              </a:defRPr>
            </a:pPr>
            <a:r>
              <a:t>On-Device STT</a:t>
            </a:r>
          </a:p>
          <a:p>
            <a:pPr>
              <a:spcAft>
                <a:spcPts val="800"/>
              </a:spcAft>
              <a:defRPr sz="2000" b="0">
                <a:solidFill>
                  <a:srgbClr val="B0B8C8"/>
                </a:solidFill>
              </a:defRPr>
            </a:pPr>
            <a:r>
              <a:t>Instant. Private. Works offline.</a:t>
            </a:r>
          </a:p>
          <a:p>
            <a:pPr>
              <a:spcAft>
                <a:spcPts val="800"/>
              </a:spcAft>
              <a:defRPr sz="2000" b="0">
                <a:solidFill>
                  <a:srgbClr val="B0B8C8"/>
                </a:solidFill>
              </a:defRPr>
            </a:pPr>
            <a:r>
              <a:t>Uses native speech_to_text.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27432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8AB4F8"/>
                </a:solidFill>
              </a:defRPr>
            </a:pPr>
            <a:r>
              <a:t>OpenAI Whisper</a:t>
            </a:r>
          </a:p>
          <a:p>
            <a:pPr>
              <a:spcAft>
                <a:spcPts val="800"/>
              </a:spcAft>
              <a:defRPr sz="2000" b="0">
                <a:solidFill>
                  <a:srgbClr val="B0B8C8"/>
                </a:solidFill>
              </a:defRPr>
            </a:pPr>
            <a:r>
              <a:t>Record → Upload → Transcribe.</a:t>
            </a:r>
          </a:p>
          <a:p>
            <a:pPr>
              <a:spcAft>
                <a:spcPts val="800"/>
              </a:spcAft>
              <a:defRPr sz="2000" b="0">
                <a:solidFill>
                  <a:srgbClr val="B0B8C8"/>
                </a:solidFill>
              </a:defRPr>
            </a:pPr>
            <a:r>
              <a:t>Higher accuracy. Server-side.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303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B8090"/>
                </a:solidFill>
              </a:defRPr>
            </a:pPr>
            <a:r>
              <a:t>Switchable modes  •  Platform-aware  •  Bundled test audio for verification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5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</a:defRPr>
            </a:pPr>
            <a:r>
              <a:t>Tech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02569B"/>
                </a:solidFill>
              </a:defRPr>
            </a:pPr>
            <a:r>
              <a:t>Frontend</a:t>
            </a:r>
          </a:p>
          <a:p>
            <a:pPr>
              <a:spcAft>
                <a:spcPts val="800"/>
              </a:spcAft>
              <a:defRPr sz="2000" b="0">
                <a:solidFill>
                  <a:srgbClr val="B0B8C8"/>
                </a:solidFill>
              </a:defRPr>
            </a:pPr>
            <a:r>
              <a:t>Flutter + Dart</a:t>
            </a:r>
          </a:p>
          <a:p>
            <a:pPr>
              <a:spcAft>
                <a:spcPts val="800"/>
              </a:spcAft>
              <a:defRPr sz="2000" b="0">
                <a:solidFill>
                  <a:srgbClr val="B0B8C8"/>
                </a:solidFill>
              </a:defRPr>
            </a:pPr>
            <a:r>
              <a:t>Material 3</a:t>
            </a:r>
          </a:p>
          <a:p>
            <a:pPr>
              <a:spcAft>
                <a:spcPts val="800"/>
              </a:spcAft>
              <a:defRPr sz="2000" b="0">
                <a:solidFill>
                  <a:srgbClr val="B0B8C8"/>
                </a:solidFill>
              </a:defRPr>
            </a:pPr>
            <a:r>
              <a:t>Provider state</a:t>
            </a:r>
          </a:p>
          <a:p>
            <a:pPr>
              <a:spcAft>
                <a:spcPts val="800"/>
              </a:spcAft>
              <a:defRPr sz="2000" b="0">
                <a:solidFill>
                  <a:srgbClr val="B0B8C8"/>
                </a:solidFill>
              </a:defRPr>
            </a:pPr>
            <a:r>
              <a:t>table_calendar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201168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009688"/>
                </a:solidFill>
              </a:defRPr>
            </a:pPr>
            <a:r>
              <a:t>Backend</a:t>
            </a:r>
          </a:p>
          <a:p>
            <a:pPr>
              <a:spcAft>
                <a:spcPts val="800"/>
              </a:spcAft>
              <a:defRPr sz="2000" b="0">
                <a:solidFill>
                  <a:srgbClr val="B0B8C8"/>
                </a:solidFill>
              </a:defRPr>
            </a:pPr>
            <a:r>
              <a:t>Python FastAPI</a:t>
            </a:r>
          </a:p>
          <a:p>
            <a:pPr>
              <a:spcAft>
                <a:spcPts val="800"/>
              </a:spcAft>
              <a:defRPr sz="2000" b="0">
                <a:solidFill>
                  <a:srgbClr val="B0B8C8"/>
                </a:solidFill>
              </a:defRPr>
            </a:pPr>
            <a:r>
              <a:t>SQLite + aiosqlite</a:t>
            </a:r>
          </a:p>
          <a:p>
            <a:pPr>
              <a:spcAft>
                <a:spcPts val="800"/>
              </a:spcAft>
              <a:defRPr sz="2000" b="0">
                <a:solidFill>
                  <a:srgbClr val="B0B8C8"/>
                </a:solidFill>
              </a:defRPr>
            </a:pPr>
            <a:r>
              <a:t>Rate limiting</a:t>
            </a:r>
          </a:p>
          <a:p>
            <a:pPr>
              <a:spcAft>
                <a:spcPts val="800"/>
              </a:spcAft>
              <a:defRPr sz="2000" b="0">
                <a:solidFill>
                  <a:srgbClr val="B0B8C8"/>
                </a:solidFill>
              </a:defRPr>
            </a:pPr>
            <a:r>
              <a:t>Atomic transactions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201168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D97757"/>
                </a:solidFill>
              </a:defRPr>
            </a:pPr>
            <a:r>
              <a:t>AI</a:t>
            </a:r>
          </a:p>
          <a:p>
            <a:pPr>
              <a:spcAft>
                <a:spcPts val="800"/>
              </a:spcAft>
              <a:defRPr sz="2000" b="0">
                <a:solidFill>
                  <a:srgbClr val="B0B8C8"/>
                </a:solidFill>
              </a:defRPr>
            </a:pPr>
            <a:r>
              <a:t>Claude Haiku 4.5</a:t>
            </a:r>
          </a:p>
          <a:p>
            <a:pPr>
              <a:spcAft>
                <a:spcPts val="800"/>
              </a:spcAft>
              <a:defRPr sz="2000" b="0">
                <a:solidFill>
                  <a:srgbClr val="B0B8C8"/>
                </a:solidFill>
              </a:defRPr>
            </a:pPr>
            <a:r>
              <a:t>3 dedicated prompts</a:t>
            </a:r>
          </a:p>
          <a:p>
            <a:pPr>
              <a:spcAft>
                <a:spcPts val="800"/>
              </a:spcAft>
              <a:defRPr sz="2000" b="0">
                <a:solidFill>
                  <a:srgbClr val="B0B8C8"/>
                </a:solidFill>
              </a:defRPr>
            </a:pPr>
            <a:r>
              <a:t>OpenAI Whisper</a:t>
            </a:r>
          </a:p>
          <a:p>
            <a:pPr>
              <a:spcAft>
                <a:spcPts val="800"/>
              </a:spcAft>
              <a:defRPr sz="2000" b="0">
                <a:solidFill>
                  <a:srgbClr val="B0B8C8"/>
                </a:solidFill>
              </a:defRPr>
            </a:pPr>
            <a:r>
              <a:t>Multi-provider fallback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AB4F8"/>
                </a:solidFill>
              </a:defRPr>
            </a:pPr>
            <a:r>
              <a:t>Built with Kiro IDE  •  Open Source  •  Code Reviewed  •  50+ Commits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5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</a:defRPr>
            </a:pPr>
            <a:r>
              <a:t>Social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B0B8C8"/>
                </a:solidFill>
              </a:defRPr>
            </a:pPr>
            <a:r>
              <a:t>→  366M+ people affected by ADHD worldwide</a:t>
            </a:r>
          </a:p>
          <a:p>
            <a:pPr>
              <a:spcAft>
                <a:spcPts val="800"/>
              </a:spcAft>
              <a:defRPr sz="2200" b="0">
                <a:solidFill>
                  <a:srgbClr val="B0B8C8"/>
                </a:solidFill>
              </a:defRPr>
            </a:pPr>
            <a:r>
              <a:t>→  10% of American college students</a:t>
            </a:r>
          </a:p>
          <a:p>
            <a:pPr>
              <a:spcAft>
                <a:spcPts val="800"/>
              </a:spcAft>
              <a:defRPr sz="2200" b="0">
                <a:solidFill>
                  <a:srgbClr val="B0B8C8"/>
                </a:solidFill>
              </a:defRPr>
            </a:pPr>
            <a:r>
              <a:t>→  Executive dysfunction ≠ laziness</a:t>
            </a:r>
          </a:p>
          <a:p>
            <a:pPr>
              <a:spcAft>
                <a:spcPts val="800"/>
              </a:spcAft>
              <a:defRPr sz="2200" b="0">
                <a:solidFill>
                  <a:srgbClr val="66BB6A"/>
                </a:solidFill>
              </a:defRPr>
            </a:pPr>
            <a:r>
              <a:t>→  Quick wins first = behavioral activation therapy</a:t>
            </a:r>
          </a:p>
          <a:p>
            <a:pPr>
              <a:spcAft>
                <a:spcPts val="800"/>
              </a:spcAft>
              <a:defRPr sz="2200" b="0">
                <a:solidFill>
                  <a:srgbClr val="66BB6A"/>
                </a:solidFill>
              </a:defRPr>
            </a:pPr>
            <a:r>
              <a:t>→  Encouraging tone = combats shame spiral</a:t>
            </a:r>
          </a:p>
          <a:p>
            <a:pPr>
              <a:spcAft>
                <a:spcPts val="800"/>
              </a:spcAft>
              <a:defRPr sz="2200" b="0">
                <a:solidFill>
                  <a:srgbClr val="66BB6A"/>
                </a:solidFill>
              </a:defRPr>
            </a:pPr>
            <a:r>
              <a:t>→  Voice input = lowers barrier to entry</a:t>
            </a:r>
          </a:p>
          <a:p>
            <a:pPr>
              <a:spcAft>
                <a:spcPts val="800"/>
              </a:spcAft>
              <a:defRPr sz="2200" b="0">
                <a:solidFill>
                  <a:srgbClr val="66BB6A"/>
                </a:solidFill>
              </a:defRPr>
            </a:pPr>
            <a:r>
              <a:t>→  No time estimates = reduces anxiety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2743200"/>
            <a:ext cx="4114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4800" b="0">
                <a:solidFill>
                  <a:srgbClr val="FFFFFF"/>
                </a:solidFill>
              </a:defRPr>
            </a:pPr>
            <a:r>
              <a:t>💙</a:t>
            </a:r>
          </a:p>
          <a:p>
            <a:pPr>
              <a:spcAft>
                <a:spcPts val="800"/>
              </a:spcAft>
              <a:defRPr sz="1800" b="0">
                <a:solidFill>
                  <a:srgbClr val="6B8090"/>
                </a:solidFill>
              </a:defRPr>
            </a:pPr>
            <a:r>
              <a:t>"Executive dysfunction isn't laziness — it's a neurological difficulty with task initiation and planning."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5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0">
                <a:solidFill>
                  <a:srgbClr val="FFFFFF"/>
                </a:solidFill>
              </a:defRPr>
            </a:pPr>
            <a:r>
              <a:t>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286000"/>
            <a:ext cx="121916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FFFFFF"/>
                </a:solidFill>
              </a:defRPr>
            </a:pPr>
            <a:r>
              <a:t>Clarity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4747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6B8090"/>
                </a:solidFill>
              </a:defRPr>
            </a:pPr>
            <a:r>
              <a:t>You don't need to have it all figured out.</a:t>
            </a:r>
            <a:br/>
            <a:r>
              <a:t>Just tell us what's on your mind.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7548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8AB4F8"/>
                </a:solidFill>
              </a:defRPr>
            </a:pPr>
            <a:r>
              <a:t>github.com/SeaL773/clarity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56692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</a:defRPr>
            </a:pPr>
            <a:r>
              <a:t>Thank you.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